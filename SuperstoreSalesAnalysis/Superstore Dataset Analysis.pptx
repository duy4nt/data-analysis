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81" r:id="rId9"/>
    <p:sldId id="282" r:id="rId10"/>
    <p:sldId id="283" r:id="rId11"/>
    <p:sldId id="284" r:id="rId12"/>
    <p:sldId id="285" r:id="rId13"/>
    <p:sldId id="272" r:id="rId14"/>
    <p:sldId id="273" r:id="rId15"/>
    <p:sldId id="274" r:id="rId16"/>
    <p:sldId id="275" r:id="rId17"/>
    <p:sldId id="286" r:id="rId18"/>
    <p:sldId id="293" r:id="rId19"/>
    <p:sldId id="298" r:id="rId20"/>
    <p:sldId id="300" r:id="rId21"/>
    <p:sldId id="297" r:id="rId22"/>
    <p:sldId id="2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00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100E13-C672-4A39-8F66-83CAF592BC10}" type="doc">
      <dgm:prSet loTypeId="urn:microsoft.com/office/officeart/2011/layout/Circle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5D3667F-A5C1-40DC-915B-B692471C0019}">
      <dgm:prSet phldrT="[Text]"/>
      <dgm:spPr/>
      <dgm:t>
        <a:bodyPr/>
        <a:lstStyle/>
        <a:p>
          <a:r>
            <a:rPr lang="en-IN" dirty="0">
              <a:latin typeface="Cascadia Mono" panose="020B0609020000020004" pitchFamily="49" charset="0"/>
              <a:cs typeface="Cascadia Mono" panose="020B0609020000020004" pitchFamily="49" charset="0"/>
            </a:rPr>
            <a:t>Introduction</a:t>
          </a:r>
        </a:p>
      </dgm:t>
    </dgm:pt>
    <dgm:pt modelId="{CB553635-D3A2-430A-8B5D-0A9EE8B523FE}" type="parTrans" cxnId="{9A6B4683-4B99-46B9-9917-111E18D90CDD}">
      <dgm:prSet/>
      <dgm:spPr/>
      <dgm:t>
        <a:bodyPr/>
        <a:lstStyle/>
        <a:p>
          <a:endParaRPr lang="en-IN"/>
        </a:p>
      </dgm:t>
    </dgm:pt>
    <dgm:pt modelId="{1F9A402B-82D0-419C-AB43-57C194100CD8}" type="sibTrans" cxnId="{9A6B4683-4B99-46B9-9917-111E18D90CDD}">
      <dgm:prSet/>
      <dgm:spPr/>
      <dgm:t>
        <a:bodyPr/>
        <a:lstStyle/>
        <a:p>
          <a:endParaRPr lang="en-IN"/>
        </a:p>
      </dgm:t>
    </dgm:pt>
    <dgm:pt modelId="{31259F7E-A047-4894-9F30-BA171211C4C9}">
      <dgm:prSet phldrT="[Text]"/>
      <dgm:spPr/>
      <dgm:t>
        <a:bodyPr/>
        <a:lstStyle/>
        <a:p>
          <a:r>
            <a:rPr lang="en-IN" dirty="0">
              <a:latin typeface="Cascadia Mono" panose="020B0609020000020004" pitchFamily="49" charset="0"/>
              <a:cs typeface="Cascadia Mono" panose="020B0609020000020004" pitchFamily="49" charset="0"/>
            </a:rPr>
            <a:t>Data Source</a:t>
          </a:r>
        </a:p>
      </dgm:t>
    </dgm:pt>
    <dgm:pt modelId="{761EFC59-B1CB-4A81-8436-84427FF8C116}" type="parTrans" cxnId="{402A620A-CFFF-43B5-9E1B-1D22F4BB08BF}">
      <dgm:prSet/>
      <dgm:spPr/>
      <dgm:t>
        <a:bodyPr/>
        <a:lstStyle/>
        <a:p>
          <a:endParaRPr lang="en-IN"/>
        </a:p>
      </dgm:t>
    </dgm:pt>
    <dgm:pt modelId="{5D64D59A-50AD-47C0-AB76-1439B507F4EF}" type="sibTrans" cxnId="{402A620A-CFFF-43B5-9E1B-1D22F4BB08BF}">
      <dgm:prSet/>
      <dgm:spPr/>
      <dgm:t>
        <a:bodyPr/>
        <a:lstStyle/>
        <a:p>
          <a:endParaRPr lang="en-IN"/>
        </a:p>
      </dgm:t>
    </dgm:pt>
    <dgm:pt modelId="{22A0F248-D281-4EBA-B939-E6C680E47E87}">
      <dgm:prSet phldrT="[Text]"/>
      <dgm:spPr/>
      <dgm:t>
        <a:bodyPr/>
        <a:lstStyle/>
        <a:p>
          <a:r>
            <a:rPr lang="en-IN" dirty="0">
              <a:latin typeface="Cascadia Mono" panose="020B0609020000020004" pitchFamily="49" charset="0"/>
              <a:cs typeface="Cascadia Mono" panose="020B0609020000020004" pitchFamily="49" charset="0"/>
            </a:rPr>
            <a:t>Detailed Summary</a:t>
          </a:r>
        </a:p>
      </dgm:t>
    </dgm:pt>
    <dgm:pt modelId="{7C8990F2-2BA4-4A8F-BE98-F51D5D7CB32F}" type="parTrans" cxnId="{2DE8B79C-1A3C-4343-A88E-F68AE15A6DE6}">
      <dgm:prSet/>
      <dgm:spPr/>
      <dgm:t>
        <a:bodyPr/>
        <a:lstStyle/>
        <a:p>
          <a:endParaRPr lang="en-IN"/>
        </a:p>
      </dgm:t>
    </dgm:pt>
    <dgm:pt modelId="{BD088C65-FA2A-4E5B-AC5D-34B5DC11A911}" type="sibTrans" cxnId="{2DE8B79C-1A3C-4343-A88E-F68AE15A6DE6}">
      <dgm:prSet/>
      <dgm:spPr/>
      <dgm:t>
        <a:bodyPr/>
        <a:lstStyle/>
        <a:p>
          <a:endParaRPr lang="en-IN"/>
        </a:p>
      </dgm:t>
    </dgm:pt>
    <dgm:pt modelId="{E304AE45-EC39-4447-BC68-A10784290658}">
      <dgm:prSet phldrT="[Text]"/>
      <dgm:spPr/>
      <dgm:t>
        <a:bodyPr/>
        <a:lstStyle/>
        <a:p>
          <a:r>
            <a:rPr lang="en-IN" dirty="0">
              <a:latin typeface="Cascadia Mono" panose="020B0609020000020004" pitchFamily="49" charset="0"/>
              <a:cs typeface="Cascadia Mono" panose="020B0609020000020004" pitchFamily="49" charset="0"/>
            </a:rPr>
            <a:t>Data Cleaning</a:t>
          </a:r>
        </a:p>
      </dgm:t>
    </dgm:pt>
    <dgm:pt modelId="{C0522260-F4B5-4689-A842-B8F2C9BA8AFA}" type="parTrans" cxnId="{69410ADC-8A08-497A-8784-CFB2320EEDDE}">
      <dgm:prSet/>
      <dgm:spPr/>
      <dgm:t>
        <a:bodyPr/>
        <a:lstStyle/>
        <a:p>
          <a:endParaRPr lang="en-IN"/>
        </a:p>
      </dgm:t>
    </dgm:pt>
    <dgm:pt modelId="{4D339DFC-1616-4646-BF37-44F03D9BAD1D}" type="sibTrans" cxnId="{69410ADC-8A08-497A-8784-CFB2320EEDDE}">
      <dgm:prSet/>
      <dgm:spPr/>
      <dgm:t>
        <a:bodyPr/>
        <a:lstStyle/>
        <a:p>
          <a:endParaRPr lang="en-IN"/>
        </a:p>
      </dgm:t>
    </dgm:pt>
    <dgm:pt modelId="{367B9B0C-F915-434D-BE49-B0C886632EBC}">
      <dgm:prSet phldrT="[Text]"/>
      <dgm:spPr/>
      <dgm:t>
        <a:bodyPr/>
        <a:lstStyle/>
        <a:p>
          <a:r>
            <a:rPr lang="en-IN" dirty="0">
              <a:latin typeface="Cascadia Mono" panose="020B0609020000020004" pitchFamily="49" charset="0"/>
              <a:cs typeface="Cascadia Mono" panose="020B0609020000020004" pitchFamily="49" charset="0"/>
            </a:rPr>
            <a:t>Summary of the Analysis</a:t>
          </a:r>
        </a:p>
      </dgm:t>
    </dgm:pt>
    <dgm:pt modelId="{BDB6E84C-F762-48B6-BEB2-786AE7370F48}" type="parTrans" cxnId="{62A4E0F0-08B5-4294-B7F2-080A64732AFC}">
      <dgm:prSet/>
      <dgm:spPr/>
      <dgm:t>
        <a:bodyPr/>
        <a:lstStyle/>
        <a:p>
          <a:endParaRPr lang="en-IN"/>
        </a:p>
      </dgm:t>
    </dgm:pt>
    <dgm:pt modelId="{64970C89-9285-4B68-8772-9E79E2EB3E45}" type="sibTrans" cxnId="{62A4E0F0-08B5-4294-B7F2-080A64732AFC}">
      <dgm:prSet/>
      <dgm:spPr/>
      <dgm:t>
        <a:bodyPr/>
        <a:lstStyle/>
        <a:p>
          <a:endParaRPr lang="en-IN"/>
        </a:p>
      </dgm:t>
    </dgm:pt>
    <dgm:pt modelId="{A1AA7BCE-9555-4E24-A8CA-44A2F71FE45A}" type="pres">
      <dgm:prSet presAssocID="{CB100E13-C672-4A39-8F66-83CAF592BC10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C2FF2307-B1FD-4C32-920A-D812A2162FFB}" type="pres">
      <dgm:prSet presAssocID="{22A0F248-D281-4EBA-B939-E6C680E47E87}" presName="Accent5" presStyleCnt="0"/>
      <dgm:spPr/>
    </dgm:pt>
    <dgm:pt modelId="{0ABC35BD-8905-4295-A419-EACCFD1C5F15}" type="pres">
      <dgm:prSet presAssocID="{22A0F248-D281-4EBA-B939-E6C680E47E87}" presName="Accent" presStyleLbl="node1" presStyleIdx="0" presStyleCnt="5"/>
      <dgm:spPr/>
    </dgm:pt>
    <dgm:pt modelId="{A88B32CE-780F-48C8-828D-D08BFBD68555}" type="pres">
      <dgm:prSet presAssocID="{22A0F248-D281-4EBA-B939-E6C680E47E87}" presName="ParentBackground5" presStyleCnt="0"/>
      <dgm:spPr/>
    </dgm:pt>
    <dgm:pt modelId="{BA752B13-A490-493B-9223-F5744F296757}" type="pres">
      <dgm:prSet presAssocID="{22A0F248-D281-4EBA-B939-E6C680E47E87}" presName="ParentBackground" presStyleLbl="fgAcc1" presStyleIdx="0" presStyleCnt="5"/>
      <dgm:spPr/>
    </dgm:pt>
    <dgm:pt modelId="{073AC0AE-AAEF-4E61-B802-A5317C60BB3A}" type="pres">
      <dgm:prSet presAssocID="{22A0F248-D281-4EBA-B939-E6C680E47E87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3C0A360-FD74-4885-A0DC-EF357AF667BA}" type="pres">
      <dgm:prSet presAssocID="{367B9B0C-F915-434D-BE49-B0C886632EBC}" presName="Accent4" presStyleCnt="0"/>
      <dgm:spPr/>
    </dgm:pt>
    <dgm:pt modelId="{F5C1F6FB-AFBA-47A7-BC1A-32683082FC64}" type="pres">
      <dgm:prSet presAssocID="{367B9B0C-F915-434D-BE49-B0C886632EBC}" presName="Accent" presStyleLbl="node1" presStyleIdx="1" presStyleCnt="5"/>
      <dgm:spPr/>
    </dgm:pt>
    <dgm:pt modelId="{4596FA90-2364-43ED-A382-7093E6E866B3}" type="pres">
      <dgm:prSet presAssocID="{367B9B0C-F915-434D-BE49-B0C886632EBC}" presName="ParentBackground4" presStyleCnt="0"/>
      <dgm:spPr/>
    </dgm:pt>
    <dgm:pt modelId="{86E3FCC2-D3FA-4E36-84C6-F5C0598D01B3}" type="pres">
      <dgm:prSet presAssocID="{367B9B0C-F915-434D-BE49-B0C886632EBC}" presName="ParentBackground" presStyleLbl="fgAcc1" presStyleIdx="1" presStyleCnt="5"/>
      <dgm:spPr/>
    </dgm:pt>
    <dgm:pt modelId="{B7A52B28-114E-465D-B410-42BC3E50800A}" type="pres">
      <dgm:prSet presAssocID="{367B9B0C-F915-434D-BE49-B0C886632EBC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F7225C1-0B2E-415F-A195-3C70D9ED2FFA}" type="pres">
      <dgm:prSet presAssocID="{E304AE45-EC39-4447-BC68-A10784290658}" presName="Accent3" presStyleCnt="0"/>
      <dgm:spPr/>
    </dgm:pt>
    <dgm:pt modelId="{3A0FD184-F132-4682-9DCD-F6564CC50062}" type="pres">
      <dgm:prSet presAssocID="{E304AE45-EC39-4447-BC68-A10784290658}" presName="Accent" presStyleLbl="node1" presStyleIdx="2" presStyleCnt="5"/>
      <dgm:spPr/>
    </dgm:pt>
    <dgm:pt modelId="{52BD0583-7F6D-4FFF-B54D-12C196B09CE8}" type="pres">
      <dgm:prSet presAssocID="{E304AE45-EC39-4447-BC68-A10784290658}" presName="ParentBackground3" presStyleCnt="0"/>
      <dgm:spPr/>
    </dgm:pt>
    <dgm:pt modelId="{5CC12A43-1EEC-4440-A5CD-85BC28594E7B}" type="pres">
      <dgm:prSet presAssocID="{E304AE45-EC39-4447-BC68-A10784290658}" presName="ParentBackground" presStyleLbl="fgAcc1" presStyleIdx="2" presStyleCnt="5"/>
      <dgm:spPr/>
    </dgm:pt>
    <dgm:pt modelId="{F315CCF5-BD85-47A6-86A9-2A48BB1A35E5}" type="pres">
      <dgm:prSet presAssocID="{E304AE45-EC39-4447-BC68-A10784290658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68D0CED-8068-42F1-82CD-60E15FFA2B0C}" type="pres">
      <dgm:prSet presAssocID="{31259F7E-A047-4894-9F30-BA171211C4C9}" presName="Accent2" presStyleCnt="0"/>
      <dgm:spPr/>
    </dgm:pt>
    <dgm:pt modelId="{CF0A32F5-61F4-4D7A-82D6-E997D3C1FFD9}" type="pres">
      <dgm:prSet presAssocID="{31259F7E-A047-4894-9F30-BA171211C4C9}" presName="Accent" presStyleLbl="node1" presStyleIdx="3" presStyleCnt="5"/>
      <dgm:spPr/>
    </dgm:pt>
    <dgm:pt modelId="{2A461085-4059-45EC-9DD2-8457641D8587}" type="pres">
      <dgm:prSet presAssocID="{31259F7E-A047-4894-9F30-BA171211C4C9}" presName="ParentBackground2" presStyleCnt="0"/>
      <dgm:spPr/>
    </dgm:pt>
    <dgm:pt modelId="{A53F9B95-39D9-4088-8B00-2683F44D8E50}" type="pres">
      <dgm:prSet presAssocID="{31259F7E-A047-4894-9F30-BA171211C4C9}" presName="ParentBackground" presStyleLbl="fgAcc1" presStyleIdx="3" presStyleCnt="5"/>
      <dgm:spPr/>
    </dgm:pt>
    <dgm:pt modelId="{EDC1C346-7E20-40F8-8F86-A771BEDC7087}" type="pres">
      <dgm:prSet presAssocID="{31259F7E-A047-4894-9F30-BA171211C4C9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3DC3357-D5DD-4A67-9446-D7BF2496585A}" type="pres">
      <dgm:prSet presAssocID="{95D3667F-A5C1-40DC-915B-B692471C0019}" presName="Accent1" presStyleCnt="0"/>
      <dgm:spPr/>
    </dgm:pt>
    <dgm:pt modelId="{07D60D62-D191-4ACD-A125-FF404D6AA991}" type="pres">
      <dgm:prSet presAssocID="{95D3667F-A5C1-40DC-915B-B692471C0019}" presName="Accent" presStyleLbl="node1" presStyleIdx="4" presStyleCnt="5"/>
      <dgm:spPr/>
    </dgm:pt>
    <dgm:pt modelId="{2D7E6470-D851-4F2B-A6FF-9658035653F6}" type="pres">
      <dgm:prSet presAssocID="{95D3667F-A5C1-40DC-915B-B692471C0019}" presName="ParentBackground1" presStyleCnt="0"/>
      <dgm:spPr/>
    </dgm:pt>
    <dgm:pt modelId="{85461B28-8C12-4A2A-8EF2-F38A02CAB192}" type="pres">
      <dgm:prSet presAssocID="{95D3667F-A5C1-40DC-915B-B692471C0019}" presName="ParentBackground" presStyleLbl="fgAcc1" presStyleIdx="4" presStyleCnt="5"/>
      <dgm:spPr/>
    </dgm:pt>
    <dgm:pt modelId="{8C6A36FD-F7BB-4C7B-A1F8-11B5BF0D802C}" type="pres">
      <dgm:prSet presAssocID="{95D3667F-A5C1-40DC-915B-B692471C001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8EE2CA01-29D2-4080-BE40-39B9C18BF9F0}" type="presOf" srcId="{CB100E13-C672-4A39-8F66-83CAF592BC10}" destId="{A1AA7BCE-9555-4E24-A8CA-44A2F71FE45A}" srcOrd="0" destOrd="0" presId="urn:microsoft.com/office/officeart/2011/layout/CircleProcess"/>
    <dgm:cxn modelId="{402A620A-CFFF-43B5-9E1B-1D22F4BB08BF}" srcId="{CB100E13-C672-4A39-8F66-83CAF592BC10}" destId="{31259F7E-A047-4894-9F30-BA171211C4C9}" srcOrd="1" destOrd="0" parTransId="{761EFC59-B1CB-4A81-8436-84427FF8C116}" sibTransId="{5D64D59A-50AD-47C0-AB76-1439B507F4EF}"/>
    <dgm:cxn modelId="{64970F1D-9CED-47D8-8609-78DE95384F5B}" type="presOf" srcId="{22A0F248-D281-4EBA-B939-E6C680E47E87}" destId="{073AC0AE-AAEF-4E61-B802-A5317C60BB3A}" srcOrd="1" destOrd="0" presId="urn:microsoft.com/office/officeart/2011/layout/CircleProcess"/>
    <dgm:cxn modelId="{3716F83C-A6C2-4160-B183-9DA6947EEB60}" type="presOf" srcId="{22A0F248-D281-4EBA-B939-E6C680E47E87}" destId="{BA752B13-A490-493B-9223-F5744F296757}" srcOrd="0" destOrd="0" presId="urn:microsoft.com/office/officeart/2011/layout/CircleProcess"/>
    <dgm:cxn modelId="{D0750676-68C5-4329-8344-962A9CCC6ADB}" type="presOf" srcId="{95D3667F-A5C1-40DC-915B-B692471C0019}" destId="{8C6A36FD-F7BB-4C7B-A1F8-11B5BF0D802C}" srcOrd="1" destOrd="0" presId="urn:microsoft.com/office/officeart/2011/layout/CircleProcess"/>
    <dgm:cxn modelId="{B55EF657-4DF6-4C88-8CFA-F8B5D4DC4428}" type="presOf" srcId="{367B9B0C-F915-434D-BE49-B0C886632EBC}" destId="{86E3FCC2-D3FA-4E36-84C6-F5C0598D01B3}" srcOrd="0" destOrd="0" presId="urn:microsoft.com/office/officeart/2011/layout/CircleProcess"/>
    <dgm:cxn modelId="{D0255658-FEB4-4F04-B701-55E7874DF072}" type="presOf" srcId="{95D3667F-A5C1-40DC-915B-B692471C0019}" destId="{85461B28-8C12-4A2A-8EF2-F38A02CAB192}" srcOrd="0" destOrd="0" presId="urn:microsoft.com/office/officeart/2011/layout/CircleProcess"/>
    <dgm:cxn modelId="{A9E56381-E96A-4F24-95D1-DD0295911948}" type="presOf" srcId="{E304AE45-EC39-4447-BC68-A10784290658}" destId="{F315CCF5-BD85-47A6-86A9-2A48BB1A35E5}" srcOrd="1" destOrd="0" presId="urn:microsoft.com/office/officeart/2011/layout/CircleProcess"/>
    <dgm:cxn modelId="{9A6B4683-4B99-46B9-9917-111E18D90CDD}" srcId="{CB100E13-C672-4A39-8F66-83CAF592BC10}" destId="{95D3667F-A5C1-40DC-915B-B692471C0019}" srcOrd="0" destOrd="0" parTransId="{CB553635-D3A2-430A-8B5D-0A9EE8B523FE}" sibTransId="{1F9A402B-82D0-419C-AB43-57C194100CD8}"/>
    <dgm:cxn modelId="{6BB7DF93-6579-49B6-A7BB-C719CF6B8385}" type="presOf" srcId="{367B9B0C-F915-434D-BE49-B0C886632EBC}" destId="{B7A52B28-114E-465D-B410-42BC3E50800A}" srcOrd="1" destOrd="0" presId="urn:microsoft.com/office/officeart/2011/layout/CircleProcess"/>
    <dgm:cxn modelId="{2DE8B79C-1A3C-4343-A88E-F68AE15A6DE6}" srcId="{CB100E13-C672-4A39-8F66-83CAF592BC10}" destId="{22A0F248-D281-4EBA-B939-E6C680E47E87}" srcOrd="4" destOrd="0" parTransId="{7C8990F2-2BA4-4A8F-BE98-F51D5D7CB32F}" sibTransId="{BD088C65-FA2A-4E5B-AC5D-34B5DC11A911}"/>
    <dgm:cxn modelId="{6BC2F4C1-A44B-4B17-AF5D-01064896069F}" type="presOf" srcId="{31259F7E-A047-4894-9F30-BA171211C4C9}" destId="{A53F9B95-39D9-4088-8B00-2683F44D8E50}" srcOrd="0" destOrd="0" presId="urn:microsoft.com/office/officeart/2011/layout/CircleProcess"/>
    <dgm:cxn modelId="{69AEACDA-636A-4E87-BDDD-93F088093A5B}" type="presOf" srcId="{E304AE45-EC39-4447-BC68-A10784290658}" destId="{5CC12A43-1EEC-4440-A5CD-85BC28594E7B}" srcOrd="0" destOrd="0" presId="urn:microsoft.com/office/officeart/2011/layout/CircleProcess"/>
    <dgm:cxn modelId="{69410ADC-8A08-497A-8784-CFB2320EEDDE}" srcId="{CB100E13-C672-4A39-8F66-83CAF592BC10}" destId="{E304AE45-EC39-4447-BC68-A10784290658}" srcOrd="2" destOrd="0" parTransId="{C0522260-F4B5-4689-A842-B8F2C9BA8AFA}" sibTransId="{4D339DFC-1616-4646-BF37-44F03D9BAD1D}"/>
    <dgm:cxn modelId="{B3C94CF0-7366-431B-87E1-5F12EC7DD406}" type="presOf" srcId="{31259F7E-A047-4894-9F30-BA171211C4C9}" destId="{EDC1C346-7E20-40F8-8F86-A771BEDC7087}" srcOrd="1" destOrd="0" presId="urn:microsoft.com/office/officeart/2011/layout/CircleProcess"/>
    <dgm:cxn modelId="{62A4E0F0-08B5-4294-B7F2-080A64732AFC}" srcId="{CB100E13-C672-4A39-8F66-83CAF592BC10}" destId="{367B9B0C-F915-434D-BE49-B0C886632EBC}" srcOrd="3" destOrd="0" parTransId="{BDB6E84C-F762-48B6-BEB2-786AE7370F48}" sibTransId="{64970C89-9285-4B68-8772-9E79E2EB3E45}"/>
    <dgm:cxn modelId="{92DCED30-4169-4779-BF7A-3768E2BB24DE}" type="presParOf" srcId="{A1AA7BCE-9555-4E24-A8CA-44A2F71FE45A}" destId="{C2FF2307-B1FD-4C32-920A-D812A2162FFB}" srcOrd="0" destOrd="0" presId="urn:microsoft.com/office/officeart/2011/layout/CircleProcess"/>
    <dgm:cxn modelId="{6C162EB8-2FAB-40C6-8169-8DEFA9AFC4E6}" type="presParOf" srcId="{C2FF2307-B1FD-4C32-920A-D812A2162FFB}" destId="{0ABC35BD-8905-4295-A419-EACCFD1C5F15}" srcOrd="0" destOrd="0" presId="urn:microsoft.com/office/officeart/2011/layout/CircleProcess"/>
    <dgm:cxn modelId="{C51F082F-7FBE-48A9-9D50-69FBF92297F0}" type="presParOf" srcId="{A1AA7BCE-9555-4E24-A8CA-44A2F71FE45A}" destId="{A88B32CE-780F-48C8-828D-D08BFBD68555}" srcOrd="1" destOrd="0" presId="urn:microsoft.com/office/officeart/2011/layout/CircleProcess"/>
    <dgm:cxn modelId="{A3C693CA-DBEC-440D-894C-A02848CF2905}" type="presParOf" srcId="{A88B32CE-780F-48C8-828D-D08BFBD68555}" destId="{BA752B13-A490-493B-9223-F5744F296757}" srcOrd="0" destOrd="0" presId="urn:microsoft.com/office/officeart/2011/layout/CircleProcess"/>
    <dgm:cxn modelId="{58C9C0DB-3A28-433E-9433-087DD10FB255}" type="presParOf" srcId="{A1AA7BCE-9555-4E24-A8CA-44A2F71FE45A}" destId="{073AC0AE-AAEF-4E61-B802-A5317C60BB3A}" srcOrd="2" destOrd="0" presId="urn:microsoft.com/office/officeart/2011/layout/CircleProcess"/>
    <dgm:cxn modelId="{274C9BE8-1766-4DA9-88C6-AD35FE4B7759}" type="presParOf" srcId="{A1AA7BCE-9555-4E24-A8CA-44A2F71FE45A}" destId="{13C0A360-FD74-4885-A0DC-EF357AF667BA}" srcOrd="3" destOrd="0" presId="urn:microsoft.com/office/officeart/2011/layout/CircleProcess"/>
    <dgm:cxn modelId="{20E1E20A-B0D4-4E66-9F38-F3CC3B85D29D}" type="presParOf" srcId="{13C0A360-FD74-4885-A0DC-EF357AF667BA}" destId="{F5C1F6FB-AFBA-47A7-BC1A-32683082FC64}" srcOrd="0" destOrd="0" presId="urn:microsoft.com/office/officeart/2011/layout/CircleProcess"/>
    <dgm:cxn modelId="{B891E0CD-3BE0-4FCA-BD17-FDFA5441B3B9}" type="presParOf" srcId="{A1AA7BCE-9555-4E24-A8CA-44A2F71FE45A}" destId="{4596FA90-2364-43ED-A382-7093E6E866B3}" srcOrd="4" destOrd="0" presId="urn:microsoft.com/office/officeart/2011/layout/CircleProcess"/>
    <dgm:cxn modelId="{92AEDFD3-08D5-41D0-B163-50737A548923}" type="presParOf" srcId="{4596FA90-2364-43ED-A382-7093E6E866B3}" destId="{86E3FCC2-D3FA-4E36-84C6-F5C0598D01B3}" srcOrd="0" destOrd="0" presId="urn:microsoft.com/office/officeart/2011/layout/CircleProcess"/>
    <dgm:cxn modelId="{BC95196D-3A76-433D-AED9-68D37D144B3D}" type="presParOf" srcId="{A1AA7BCE-9555-4E24-A8CA-44A2F71FE45A}" destId="{B7A52B28-114E-465D-B410-42BC3E50800A}" srcOrd="5" destOrd="0" presId="urn:microsoft.com/office/officeart/2011/layout/CircleProcess"/>
    <dgm:cxn modelId="{7455665B-9CB8-4530-869E-E46C20F68182}" type="presParOf" srcId="{A1AA7BCE-9555-4E24-A8CA-44A2F71FE45A}" destId="{0F7225C1-0B2E-415F-A195-3C70D9ED2FFA}" srcOrd="6" destOrd="0" presId="urn:microsoft.com/office/officeart/2011/layout/CircleProcess"/>
    <dgm:cxn modelId="{12A3300B-937E-4C5F-B24C-E676DA095D19}" type="presParOf" srcId="{0F7225C1-0B2E-415F-A195-3C70D9ED2FFA}" destId="{3A0FD184-F132-4682-9DCD-F6564CC50062}" srcOrd="0" destOrd="0" presId="urn:microsoft.com/office/officeart/2011/layout/CircleProcess"/>
    <dgm:cxn modelId="{E43DD508-2691-42A4-B2D4-B97861147666}" type="presParOf" srcId="{A1AA7BCE-9555-4E24-A8CA-44A2F71FE45A}" destId="{52BD0583-7F6D-4FFF-B54D-12C196B09CE8}" srcOrd="7" destOrd="0" presId="urn:microsoft.com/office/officeart/2011/layout/CircleProcess"/>
    <dgm:cxn modelId="{7194CC1D-7C77-4DFD-BA6E-10DEB18EB39A}" type="presParOf" srcId="{52BD0583-7F6D-4FFF-B54D-12C196B09CE8}" destId="{5CC12A43-1EEC-4440-A5CD-85BC28594E7B}" srcOrd="0" destOrd="0" presId="urn:microsoft.com/office/officeart/2011/layout/CircleProcess"/>
    <dgm:cxn modelId="{E8A27733-930A-469C-8301-09A5DC3AF985}" type="presParOf" srcId="{A1AA7BCE-9555-4E24-A8CA-44A2F71FE45A}" destId="{F315CCF5-BD85-47A6-86A9-2A48BB1A35E5}" srcOrd="8" destOrd="0" presId="urn:microsoft.com/office/officeart/2011/layout/CircleProcess"/>
    <dgm:cxn modelId="{3B1B6F9F-DED8-4659-892F-F4078F0578F2}" type="presParOf" srcId="{A1AA7BCE-9555-4E24-A8CA-44A2F71FE45A}" destId="{368D0CED-8068-42F1-82CD-60E15FFA2B0C}" srcOrd="9" destOrd="0" presId="urn:microsoft.com/office/officeart/2011/layout/CircleProcess"/>
    <dgm:cxn modelId="{7BF34C36-0A5A-4F02-B765-2DF01FB30ACB}" type="presParOf" srcId="{368D0CED-8068-42F1-82CD-60E15FFA2B0C}" destId="{CF0A32F5-61F4-4D7A-82D6-E997D3C1FFD9}" srcOrd="0" destOrd="0" presId="urn:microsoft.com/office/officeart/2011/layout/CircleProcess"/>
    <dgm:cxn modelId="{43EE0CBA-5680-44A4-BDB4-E81E43EEB312}" type="presParOf" srcId="{A1AA7BCE-9555-4E24-A8CA-44A2F71FE45A}" destId="{2A461085-4059-45EC-9DD2-8457641D8587}" srcOrd="10" destOrd="0" presId="urn:microsoft.com/office/officeart/2011/layout/CircleProcess"/>
    <dgm:cxn modelId="{FA345502-CFF6-40BA-976C-ED50ED56BAC4}" type="presParOf" srcId="{2A461085-4059-45EC-9DD2-8457641D8587}" destId="{A53F9B95-39D9-4088-8B00-2683F44D8E50}" srcOrd="0" destOrd="0" presId="urn:microsoft.com/office/officeart/2011/layout/CircleProcess"/>
    <dgm:cxn modelId="{47A22E2D-37E9-416A-9AEE-259BE778956D}" type="presParOf" srcId="{A1AA7BCE-9555-4E24-A8CA-44A2F71FE45A}" destId="{EDC1C346-7E20-40F8-8F86-A771BEDC7087}" srcOrd="11" destOrd="0" presId="urn:microsoft.com/office/officeart/2011/layout/CircleProcess"/>
    <dgm:cxn modelId="{8B5DDDF0-7AE5-4E3E-AD8C-261FBF30E631}" type="presParOf" srcId="{A1AA7BCE-9555-4E24-A8CA-44A2F71FE45A}" destId="{83DC3357-D5DD-4A67-9446-D7BF2496585A}" srcOrd="12" destOrd="0" presId="urn:microsoft.com/office/officeart/2011/layout/CircleProcess"/>
    <dgm:cxn modelId="{B9F2B643-91EC-463E-A236-4418DB92DAD9}" type="presParOf" srcId="{83DC3357-D5DD-4A67-9446-D7BF2496585A}" destId="{07D60D62-D191-4ACD-A125-FF404D6AA991}" srcOrd="0" destOrd="0" presId="urn:microsoft.com/office/officeart/2011/layout/CircleProcess"/>
    <dgm:cxn modelId="{7B45F152-7DA9-48C2-B189-93B890A3AB09}" type="presParOf" srcId="{A1AA7BCE-9555-4E24-A8CA-44A2F71FE45A}" destId="{2D7E6470-D851-4F2B-A6FF-9658035653F6}" srcOrd="13" destOrd="0" presId="urn:microsoft.com/office/officeart/2011/layout/CircleProcess"/>
    <dgm:cxn modelId="{A76B4764-D74F-4E8F-AD02-578EF83018F4}" type="presParOf" srcId="{2D7E6470-D851-4F2B-A6FF-9658035653F6}" destId="{85461B28-8C12-4A2A-8EF2-F38A02CAB192}" srcOrd="0" destOrd="0" presId="urn:microsoft.com/office/officeart/2011/layout/CircleProcess"/>
    <dgm:cxn modelId="{840AB2D8-F564-46AC-8D26-2F89EBA668AF}" type="presParOf" srcId="{A1AA7BCE-9555-4E24-A8CA-44A2F71FE45A}" destId="{8C6A36FD-F7BB-4C7B-A1F8-11B5BF0D802C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C35BD-8905-4295-A419-EACCFD1C5F15}">
      <dsp:nvSpPr>
        <dsp:cNvPr id="0" name=""/>
        <dsp:cNvSpPr/>
      </dsp:nvSpPr>
      <dsp:spPr>
        <a:xfrm>
          <a:off x="8748475" y="797815"/>
          <a:ext cx="2004391" cy="200471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A752B13-A490-493B-9223-F5744F296757}">
      <dsp:nvSpPr>
        <dsp:cNvPr id="0" name=""/>
        <dsp:cNvSpPr/>
      </dsp:nvSpPr>
      <dsp:spPr>
        <a:xfrm>
          <a:off x="8814613" y="864651"/>
          <a:ext cx="1871050" cy="18710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Detailed Summary</a:t>
          </a:r>
        </a:p>
      </dsp:txBody>
      <dsp:txXfrm>
        <a:off x="9082363" y="1131994"/>
        <a:ext cx="1336616" cy="1336362"/>
      </dsp:txXfrm>
    </dsp:sp>
    <dsp:sp modelId="{F5C1F6FB-AFBA-47A7-BC1A-32683082FC64}">
      <dsp:nvSpPr>
        <dsp:cNvPr id="0" name=""/>
        <dsp:cNvSpPr/>
      </dsp:nvSpPr>
      <dsp:spPr>
        <a:xfrm rot="2700000">
          <a:off x="6675928" y="797919"/>
          <a:ext cx="2004160" cy="200416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6E3FCC2-D3FA-4E36-84C6-F5C0598D01B3}">
      <dsp:nvSpPr>
        <dsp:cNvPr id="0" name=""/>
        <dsp:cNvSpPr/>
      </dsp:nvSpPr>
      <dsp:spPr>
        <a:xfrm>
          <a:off x="6744083" y="864651"/>
          <a:ext cx="1871050" cy="18710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Summary of the Analysis</a:t>
          </a:r>
        </a:p>
      </dsp:txBody>
      <dsp:txXfrm>
        <a:off x="7010767" y="1131994"/>
        <a:ext cx="1336616" cy="1336362"/>
      </dsp:txXfrm>
    </dsp:sp>
    <dsp:sp modelId="{3A0FD184-F132-4682-9DCD-F6564CC50062}">
      <dsp:nvSpPr>
        <dsp:cNvPr id="0" name=""/>
        <dsp:cNvSpPr/>
      </dsp:nvSpPr>
      <dsp:spPr>
        <a:xfrm rot="2700000">
          <a:off x="4605399" y="797919"/>
          <a:ext cx="2004160" cy="200416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C12A43-1EEC-4440-A5CD-85BC28594E7B}">
      <dsp:nvSpPr>
        <dsp:cNvPr id="0" name=""/>
        <dsp:cNvSpPr/>
      </dsp:nvSpPr>
      <dsp:spPr>
        <a:xfrm>
          <a:off x="4672487" y="864651"/>
          <a:ext cx="1871050" cy="18710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Data Cleaning</a:t>
          </a:r>
        </a:p>
      </dsp:txBody>
      <dsp:txXfrm>
        <a:off x="4939171" y="1131994"/>
        <a:ext cx="1336616" cy="1336362"/>
      </dsp:txXfrm>
    </dsp:sp>
    <dsp:sp modelId="{CF0A32F5-61F4-4D7A-82D6-E997D3C1FFD9}">
      <dsp:nvSpPr>
        <dsp:cNvPr id="0" name=""/>
        <dsp:cNvSpPr/>
      </dsp:nvSpPr>
      <dsp:spPr>
        <a:xfrm rot="2700000">
          <a:off x="2533803" y="797919"/>
          <a:ext cx="2004160" cy="200416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53F9B95-39D9-4088-8B00-2683F44D8E50}">
      <dsp:nvSpPr>
        <dsp:cNvPr id="0" name=""/>
        <dsp:cNvSpPr/>
      </dsp:nvSpPr>
      <dsp:spPr>
        <a:xfrm>
          <a:off x="2600891" y="864651"/>
          <a:ext cx="1871050" cy="18710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Data Source</a:t>
          </a:r>
        </a:p>
      </dsp:txBody>
      <dsp:txXfrm>
        <a:off x="2868641" y="1131994"/>
        <a:ext cx="1336616" cy="1336362"/>
      </dsp:txXfrm>
    </dsp:sp>
    <dsp:sp modelId="{07D60D62-D191-4ACD-A125-FF404D6AA991}">
      <dsp:nvSpPr>
        <dsp:cNvPr id="0" name=""/>
        <dsp:cNvSpPr/>
      </dsp:nvSpPr>
      <dsp:spPr>
        <a:xfrm rot="2700000">
          <a:off x="462207" y="797919"/>
          <a:ext cx="2004160" cy="200416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461B28-8C12-4A2A-8EF2-F38A02CAB192}">
      <dsp:nvSpPr>
        <dsp:cNvPr id="0" name=""/>
        <dsp:cNvSpPr/>
      </dsp:nvSpPr>
      <dsp:spPr>
        <a:xfrm>
          <a:off x="529295" y="864651"/>
          <a:ext cx="1871050" cy="187104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scadia Mono" panose="020B0609020000020004" pitchFamily="49" charset="0"/>
              <a:cs typeface="Cascadia Mono" panose="020B0609020000020004" pitchFamily="49" charset="0"/>
            </a:rPr>
            <a:t>Introduction</a:t>
          </a:r>
        </a:p>
      </dsp:txBody>
      <dsp:txXfrm>
        <a:off x="797045" y="1131994"/>
        <a:ext cx="1336616" cy="1336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E391-1205-F7BB-87D8-AD16B1EEF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F2D80-67B6-966D-EB4C-F076DF888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E2E23-3B26-DD06-FF53-F8AA51CF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5ACAC-8681-5D14-43EE-7EA10471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E7DCA-B94A-37AD-AF83-BD4FB734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79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CD40-0415-290A-E9DA-433B3DFE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2E553-C2FD-04A2-C771-FD1B21E5A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E3FEC-88B5-5F0B-89E0-B79CCB2F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DCC53-EB25-FD74-DE4A-D81541DF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666EE-5B3F-76BA-73EA-C82D0FE2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81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6FB6-A583-9856-9766-919E42F3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55A9A-5AD2-B3DE-6D5A-AE97C8617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93CDA-2E4A-183B-AB4A-8D058BF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B265-DF1B-2488-0BB5-A3131F09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DC40-6F0B-E744-0F17-EC837838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76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148E5-8EA3-CFB9-9E77-E30AC606F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7BAB-D2E2-89CC-4740-B08D8BE85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34453-ACC7-5381-D095-BC45A0AEE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54F3E-699A-37AB-E970-92FFA5B6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FEF7D-4F12-5F13-1532-1E79384B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22F90-0070-B0A9-5BFE-5D1ACBF6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8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97E2-FAD2-2D48-401A-A8B958CF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69261-4BC3-5A06-50B2-3C3CDB0E0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E3F15-10AD-44E4-7B6A-6DD3D274B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76F6F-07FF-2AA4-BC4C-C8C032383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6BE65-6820-AB17-B3C4-D8689C442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CFF3FF-CCBC-ABF5-F066-9C5D33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CF42B-41D5-16AD-983F-D11AAFDC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479FF0-8137-2D3D-C3DC-9F368163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45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6C94-01E2-BD73-6F5D-DF66503E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332F1-245A-9A59-FD18-7BAE3891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F0C9A-3F54-D182-8256-C593A33A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89AD2-3572-7A36-D509-F35D3B35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93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5981BD-A92F-B290-CEDF-28EA2629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F8E946-4123-F7E7-B0BE-8BFEB815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AF3ED-D0BE-9E24-425F-FBA41B34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3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CAAD-C087-2D58-D307-103C413C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2EF8D-529E-CAE9-3115-77D90924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52AD5-9020-CE78-30FD-E58CE43B5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B08F9-28ED-4F33-F44A-D64D141A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675A4-B741-5D84-1373-433FA451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860EF-2129-283C-5F3E-99C5572E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9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CF80-BB23-7D56-9034-DADFB58E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14758-9302-85F3-1434-E40734A8D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99773-A03D-EF26-F63F-216F6DF24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32758-10BA-2890-F33B-8C6B71F1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42A68-CE67-CDA0-A748-31F4A93C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861E0-1F1F-5952-FA64-D73E6BB5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20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E5C9-AC3B-F0B0-4070-3EC5529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E0734-7B6A-AD8E-2784-EC279E097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EFC2E-D34D-06FF-3BF3-A8E983BE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C28CB-A1BB-7BBF-DB3B-F272985F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AF936-2B39-2189-E10E-9FC863DC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211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0A240-5D3A-7B6E-12BB-03CA53C49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78C49-D317-379A-6E7E-86D43DB00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348DF-EE63-9F57-4F66-F18296109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BD368-DC0F-F4EC-5C5D-CF80944A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23595-99E8-9BC7-9C82-4CBE72EF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36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5B89F9-BD25-9C5B-0EFC-260D9CF9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DFA28-1C9A-02BF-700F-7DA45A7F4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F856D-9013-835C-DE4B-805EF7A1B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DF630-D0DA-466F-B7F5-BE448E4FF0D6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71C7B-68C2-5FE8-0593-9334C3BCF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B944-ABB4-F1A6-4176-464D97FD5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DEC6-A637-4D57-860D-8CD1F64E6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2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datasets/rohitsahoo/sales-forecasting?resource=downloa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42A89BE-F3E3-6DCC-9F82-9C18A72DF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2427" y="1632158"/>
            <a:ext cx="720000" cy="7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B2EF88-E1C4-1E8D-C1E3-4D2BE8A5C8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Superstore Dataset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35856-76F2-2C59-4944-006FBC21C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Prateek Singh</a:t>
            </a:r>
          </a:p>
        </p:txBody>
      </p:sp>
    </p:spTree>
    <p:extLst>
      <p:ext uri="{BB962C8B-B14F-4D97-AF65-F5344CB8AC3E}">
        <p14:creationId xmlns:p14="http://schemas.microsoft.com/office/powerpoint/2010/main" val="223634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96D5-CD3D-3483-0942-F7E8CE50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Project Overview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C6FC99-B6C9-77C6-28D9-6B28BC9F6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5470E5-2D9D-F3D3-B952-DCCEAB5433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775384"/>
              </p:ext>
            </p:extLst>
          </p:nvPr>
        </p:nvGraphicFramePr>
        <p:xfrm>
          <a:off x="685799" y="1605491"/>
          <a:ext cx="10800000" cy="36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0734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57B0-6C7D-D135-2B4E-013FE23B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038AC-9AF8-CFB5-76B7-2B8E78BBB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The </a:t>
            </a:r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  <a:hlinkClick r:id="rId2"/>
              </a:rPr>
              <a:t>Superstore dataset</a:t>
            </a:r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offers a unique perspective into the purchasing patterns and revenue dynamics of a retail business.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The project aims to investigate the relation between the customers, products and sales and how they effect each other over a period of time.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The dataset contains the following variables: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Order_ID: ID given to each order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Order_date: Date of the order placed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Ship_date: Date of the order shipped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Ship_mode: Method by which the product was shipping to the house of customers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Customer_id, name and segment: Information about the customers.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City: The city in which the customer lived.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State: The state in which the customer lived.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Postal Code: The postal code of the location of the customer.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Product_ID and name: Information about the product.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Category: The category to which the product belongs to.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The dataset was made available under the GPL 2 licence.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88ECA75-6E7F-B5F5-54E0-AFCD846C3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5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41382-912C-65E9-E633-38C48C49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81CF-B15A-CE85-0D77-5062C889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Summary of the Analysis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9BD627E-69E5-9362-69B6-20EA475A6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36EE61-3389-1C81-7EB1-AA353262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The highest revenue product was Canon imageCLASS 2200 Advance Copier; while lowest revenue product was Eureka Disposable bags. 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The highest volume product were Staples and Paper; while there were many low volume products.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Texas and California have the maximum number of best customers, followed by New Hampshire. ‘Best’ customers were predicted with the help of RMF analysis. 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California and New York has the maximum sales, followed by Texas. North Dakota had the minimum sales, followed by West Virginia and Maine. 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Our top customers were: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DR-12880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PK-19075</a:t>
            </a:r>
          </a:p>
          <a:p>
            <a:pPr lvl="1"/>
            <a:r>
              <a:rPr lang="en-IN" sz="1000" dirty="0">
                <a:latin typeface="Cascadia Mono" panose="020B0609020000020004" pitchFamily="49" charset="0"/>
                <a:cs typeface="Cascadia Mono" panose="020B0609020000020004" pitchFamily="49" charset="0"/>
              </a:rPr>
              <a:t>PO-18850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Same day delivery is used by 0.42% of the total customers, while Standard Class delivery is by 47.78% of the total customers.</a:t>
            </a: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As we move towards the end of the year, the sales tend to grow.</a:t>
            </a:r>
          </a:p>
        </p:txBody>
      </p:sp>
    </p:spTree>
    <p:extLst>
      <p:ext uri="{BB962C8B-B14F-4D97-AF65-F5344CB8AC3E}">
        <p14:creationId xmlns:p14="http://schemas.microsoft.com/office/powerpoint/2010/main" val="264422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6A5C-5736-6B5D-578C-C91D30D6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13CD-4A26-3FB1-CF93-045C3A57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Q4 sees 150% increase in sales from Q1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46C271-BD71-E7F7-5DD9-9F36B2700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8CFCE-E6AC-9428-EAD3-1BE744E5E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41" y="1835269"/>
            <a:ext cx="5760000" cy="324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81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20E0-49D4-7921-1AA9-A8F97C6C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B15C-6488-723D-85BA-53C4F284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November, highest revenue generating month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CF217B-DEC1-B4B1-332F-328CD5296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5794F6-1D53-556F-20F6-E35E1438D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41" y="1823240"/>
            <a:ext cx="5766318" cy="32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5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6B6F-2793-C3A1-2D0C-E2B72024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55CF-3529-F1D1-B170-E9F79440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Technology generated 13% more revenue than Furniture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356678-B10D-FCBF-7649-8527F3228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9813AE-E4E4-3A5B-E765-DA7BB32EE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801979"/>
            <a:ext cx="5769089" cy="32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5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91A0-59A0-2B9F-414B-96A874B1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4DFD-1CB2-7DDF-800C-DE709C1C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Office Supplies dominates by 6000+ orders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9CB5ED-79B8-1551-B9AD-CF9FA5054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A8498D-2FA8-3016-B92D-ED14A468FB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824630"/>
            <a:ext cx="5769089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92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3338-F789-BFAF-D1E7-8D9FD252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207C-850B-4D8B-AA02-01E0C6B6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Staple, Paper and Binder drive the maximum volume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2E9358E-005F-57C8-3C2D-2C26956F7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E323C6-6B2F-DABD-0844-E788185D0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813992"/>
            <a:ext cx="5769089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7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F9B8-00B9-ED51-0CC4-E000A0EF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9330-B11A-3B43-4F9E-2D766B3F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Canon Copier leads revenue at $61k revenue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7B3F19-53D0-1499-A447-ED36518DA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502C49-CBEF-C17C-4250-25FD7C596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41" y="1812609"/>
            <a:ext cx="5766318" cy="32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2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F8320-24ED-0723-158A-CEF8E60D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9ABB-C589-036F-556E-06455BF0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Eureka Disposable, the least sold product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83869EA-EDB1-EC35-87EF-00CD37116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2487F3-D2FF-0FE9-BAF8-1E5F1962B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814003"/>
            <a:ext cx="5769089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83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7061-3814-3ADB-1DA2-C7211CC8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0E9A-1F53-F117-CAC8-82BD8E14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Volume sold plummeting to 1 of 94 products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7CB87B-8BF3-A948-5514-FC16BA13F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5646E2-A4E6-BEAD-9C89-F789E89E9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41" y="1813994"/>
            <a:ext cx="5766318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91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0370-17FA-B751-E65A-EDF44CDD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258C-EE54-AA7C-7E51-12AD8444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Consumer segment accounts for 50%+ of all sales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F9D4526-3965-7562-4C13-E3C6F8A51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56D5AB-18AC-D6F2-2D43-EB487259C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813992"/>
            <a:ext cx="5769089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37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064D-C1A9-4B11-71A9-CF5BDDD7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610B-D0F8-2837-416D-049F778B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West leads the sales, Central shows growth potential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A64F02-10A4-B098-1786-62013E40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0C3169-DAF5-F90D-F204-56C1D4568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226" y="1816764"/>
            <a:ext cx="5763547" cy="32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6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E449-CCB5-4444-0F02-ADE3BA04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395-8FD4-91F0-BC48-216C5632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Standards Class shipping preferred by 50%+ customers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96BB0E-D9F0-975B-8365-A45D95744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9125F7-EFB0-B226-A4FC-136FC6E4A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982733"/>
            <a:ext cx="5769089" cy="32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63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E8A1-DBE9-68F4-B717-AB615446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1B59-6BDF-43D7-3D08-18135065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Standard Class shipping taking full work-week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CDB8196-8B23-30BC-77C5-59EB7D7D6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8A9A7E-23A5-27BE-9798-07A0B0A83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41" y="1814000"/>
            <a:ext cx="5766318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59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BE2-A449-B3D4-3915-16DD09D4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91253-BB04-1987-25C5-9C6C8FFE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Best customers are consumer majority(by RFM analysis)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E887D1-AB5B-2787-6A95-BBA521FC9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18F7A9-2606-06D3-FC40-45D923092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55" y="1813994"/>
            <a:ext cx="5769089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44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0504-DF63-4BBD-8CB7-A240E8CC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13A1-22EB-3472-2804-B37D72C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Delivery Times taking 4 working days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4F154AA-037A-9684-AB07-49792DFFF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78E38F-4E5E-ACD6-998F-A7C133FA3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41" y="1822894"/>
            <a:ext cx="5766318" cy="32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08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5DC40-AE33-1DC6-231A-E3453C16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1399-EA2E-13C0-0A9A-11629CBA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Recommendation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1056A3-29F6-0E07-7D8F-C85196940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237C95-F738-3ED5-E9A3-C9A9EB87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More products for the Consumer segment as they account for 50% of the sales.</a:t>
            </a:r>
          </a:p>
          <a:p>
            <a:endParaRPr lang="en-IN" sz="1400" dirty="0"/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Increase the number of employees as well as inventory during the last quarters as the sales as well as the number of purchases increases during that time.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Focus more on the East and Central for new customers. Work on the delivery time in the Central.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Research on the one day delivery option, as maintaining it is costly, hence removing it increase profit, but might effect some consumers. 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02669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AB67-DE13-886D-2BBE-711921A6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0E787-D937-1658-790A-6F378A11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Next Step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1EFB8EE-CFF6-A34B-07F9-24C7D9249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A86854-8A25-3A69-C109-C998B6E9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Optimize the Q3 and Q4 inventory by 50% more of the most selling products, based on the historical data.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Review Same Day delivery economics, which is only used by 0.42% of the total customer base.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Analyze underperforming region with growth  potential.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Launch a retention campaign for top 127 “Best” customers identified through RFM analysis.</a:t>
            </a:r>
          </a:p>
          <a:p>
            <a:endParaRPr lang="en-IN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IN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Price optimization study, test pricing elasticity in the Technology category.</a:t>
            </a:r>
          </a:p>
        </p:txBody>
      </p:sp>
    </p:spTree>
    <p:extLst>
      <p:ext uri="{BB962C8B-B14F-4D97-AF65-F5344CB8AC3E}">
        <p14:creationId xmlns:p14="http://schemas.microsoft.com/office/powerpoint/2010/main" val="3790112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EDCA4-B423-5387-67C8-37C6BDF4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>
                <a:latin typeface="Cascadia Mono" panose="020B0609020000020004" pitchFamily="49" charset="0"/>
                <a:cs typeface="Cascadia Mono" panose="020B0609020000020004" pitchFamily="49" charset="0"/>
              </a:rPr>
              <a:t>Thank you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C42338-39A8-78C3-86E6-F59BC65A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5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2DA774D-3241-9EFF-3A10-6BF58116B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4402" y="5596834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27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702</TotalTime>
  <Words>621</Words>
  <Application>Microsoft Office PowerPoint</Application>
  <PresentationFormat>Widescreen</PresentationFormat>
  <Paragraphs>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Cascadia Mono</vt:lpstr>
      <vt:lpstr>Office Theme</vt:lpstr>
      <vt:lpstr>Superstore Dataset Analysis</vt:lpstr>
      <vt:lpstr>Project Overview</vt:lpstr>
      <vt:lpstr>Introduction</vt:lpstr>
      <vt:lpstr>Summary of the Analysis</vt:lpstr>
      <vt:lpstr>Q4 sees 150% increase in sales from Q1</vt:lpstr>
      <vt:lpstr>November, highest revenue generating month</vt:lpstr>
      <vt:lpstr>Technology generated 13% more revenue than Furniture</vt:lpstr>
      <vt:lpstr>Office Supplies dominates by 6000+ orders</vt:lpstr>
      <vt:lpstr>Staple, Paper and Binder drive the maximum volume</vt:lpstr>
      <vt:lpstr>Canon Copier leads revenue at $61k revenue </vt:lpstr>
      <vt:lpstr>Eureka Disposable, the least sold product</vt:lpstr>
      <vt:lpstr>Volume sold plummeting to 1 of 94 products</vt:lpstr>
      <vt:lpstr>Consumer segment accounts for 50%+ of all sales</vt:lpstr>
      <vt:lpstr>West leads the sales, Central shows growth potential </vt:lpstr>
      <vt:lpstr>Standards Class shipping preferred by 50%+ customers</vt:lpstr>
      <vt:lpstr>Standard Class shipping taking full work-week</vt:lpstr>
      <vt:lpstr>Best customers are consumer majority(by RFM analysis)</vt:lpstr>
      <vt:lpstr>Delivery Times taking 4 working days</vt:lpstr>
      <vt:lpstr>Recommendation</vt:lpstr>
      <vt:lpstr>Next Step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Singh</dc:creator>
  <cp:lastModifiedBy>Prateek Singh</cp:lastModifiedBy>
  <cp:revision>14</cp:revision>
  <dcterms:created xsi:type="dcterms:W3CDTF">2026-02-12T07:07:58Z</dcterms:created>
  <dcterms:modified xsi:type="dcterms:W3CDTF">2026-02-14T10:09:39Z</dcterms:modified>
</cp:coreProperties>
</file>